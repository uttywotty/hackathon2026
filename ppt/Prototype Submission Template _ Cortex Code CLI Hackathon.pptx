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embeddedFontLst>
    <p:embeddedFont>
      <p:font typeface="Manrope" pitchFamily="2" charset="0"/>
      <p:regular r:id="rId9"/>
      <p:bold r:id="rId10"/>
    </p:embeddedFont>
    <p:embeddedFont>
      <p:font typeface="Manrope SemiBold" pitchFamily="2" charset="0"/>
      <p:regular r:id="rId11"/>
      <p:bold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font" Target="fonts/font1.fntdata"/><Relationship Id="rId10" Type="http://schemas.openxmlformats.org/officeDocument/2006/relationships/font" Target="fonts/font2.fntdata"/><Relationship Id="rId11" Type="http://schemas.openxmlformats.org/officeDocument/2006/relationships/font" Target="fonts/font3.fntdata"/><Relationship Id="rId12" Type="http://schemas.openxmlformats.org/officeDocument/2006/relationships/font" Target="fonts/font4.fntdata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b6c7e62156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b6c7e62156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b6c7e62156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b6c7e62156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b6c7e62156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b6c7e62156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b6c7e62156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b6c7e62156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b6c7e62156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b6c7e62156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deded 146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67258" y="3299200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pPr lvl="0">
              <a:lnSpc>
                <a:spcPct val="80000"/>
              </a:lnSpc>
            </a:pPr>
            <a:r>
              <a:rPr lang="en-GB" sz="1343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 </a:t>
            </a:r>
            <a:r>
              <a:rPr lang="en-GB" b="1" dirty="0" err="1"/>
              <a:t>emoldinounited</a:t>
            </a:r>
            <a:endParaRPr sz="1343" dirty="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67237" y="4355912"/>
            <a:ext cx="8244026" cy="629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pPr lvl="0">
              <a:lnSpc>
                <a:spcPct val="70000"/>
              </a:lnSpc>
            </a:pPr>
            <a:r>
              <a:rPr lang="en-GB" sz="1343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 Autonomous multi-signal anomaly detection for manufacturing fleets</a:t>
            </a:r>
            <a:endParaRPr sz="1100" dirty="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67248" y="36412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pPr lvl="0">
              <a:lnSpc>
                <a:spcPct val="80000"/>
              </a:lnSpc>
            </a:pPr>
            <a:r>
              <a:rPr lang="en-GB" sz="1343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 Utku Gulbardak</a:t>
            </a:r>
            <a:endParaRPr sz="1343" dirty="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367238" y="40138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43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 1</a:t>
            </a:r>
            <a:endParaRPr sz="1343" dirty="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deded 14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/>
          <p:cNvSpPr txBox="1"/>
          <p:nvPr/>
        </p:nvSpPr>
        <p:spPr>
          <a:xfrm>
            <a:off x="311700" y="522945"/>
            <a:ext cx="8485800" cy="42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5000"/>
              <a:buNone/>
            </a:pPr>
            <a:r>
              <a:rPr lang="en-GB" sz="1700" b="1" dirty="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Submission Guidelines:</a:t>
            </a:r>
            <a:br>
              <a:rPr lang="en-GB" sz="1700" b="1" dirty="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lang="en-GB" sz="1442" b="1" i="1" dirty="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(Things to add on the submission deck)</a:t>
            </a:r>
            <a:endParaRPr sz="1442" b="1" i="1" dirty="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55000"/>
              <a:buNone/>
            </a:pPr>
            <a:r>
              <a:rPr lang="en-GB" sz="1700" b="1" dirty="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1. Problem Brief</a:t>
            </a:r>
            <a:endParaRPr sz="1700" b="1" dirty="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914400" lvl="0" indent="-312261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lang="en-GB" sz="1700" dirty="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What real business problem does this solve?</a:t>
            </a:r>
            <a:endParaRPr sz="1700" dirty="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914400" lvl="0" indent="-31226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lang="en-GB" sz="1700" dirty="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Who is the target user/persona?</a:t>
            </a:r>
            <a:endParaRPr sz="1700" dirty="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914400" lvl="0" indent="-31226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lang="en-GB" sz="1700" dirty="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What is the current pain point and how does this improve it?</a:t>
            </a:r>
            <a:endParaRPr sz="1700" dirty="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914400" lvl="0" indent="-31226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lang="en-GB" sz="1700" dirty="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Industry/domain context</a:t>
            </a:r>
            <a:endParaRPr sz="1700" dirty="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55000"/>
              <a:buNone/>
            </a:pPr>
            <a:r>
              <a:rPr lang="en-GB" sz="1700" b="1" dirty="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2. Architecture Diagram</a:t>
            </a:r>
            <a:endParaRPr sz="1700" b="1" dirty="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914400" lvl="0" indent="-312261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lang="en-GB" sz="1700" dirty="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System design showing data flow</a:t>
            </a:r>
            <a:endParaRPr sz="1700" dirty="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914400" lvl="0" indent="-31226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lang="en-GB" sz="1700" dirty="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Which Cortex Code CLI skills are used and how they connect</a:t>
            </a:r>
            <a:endParaRPr sz="1700" dirty="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914400" lvl="0" indent="-31226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lang="en-GB" sz="1700" dirty="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Data sources (structured/unstructured)</a:t>
            </a:r>
            <a:endParaRPr sz="1700" dirty="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914400" lvl="0" indent="-31226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lang="en-GB" sz="1700" dirty="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How modular components plug together</a:t>
            </a:r>
            <a:endParaRPr sz="1700" dirty="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700" b="1" dirty="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3. Impact Statement</a:t>
            </a:r>
            <a:endParaRPr sz="1700" b="1" dirty="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914400" lvl="0" indent="-312261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lang="en-GB" sz="1700" dirty="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Measurable outcomes (time saved, accuracy improvement, etc.)</a:t>
            </a:r>
            <a:endParaRPr sz="1700" dirty="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914400" lvl="0" indent="-31226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lang="en-GB" sz="1700" dirty="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Scalability potential</a:t>
            </a:r>
            <a:endParaRPr sz="1700" dirty="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914400" lvl="0" indent="-31226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729"/>
              </a:buClr>
              <a:buSzPct val="100000"/>
              <a:buFont typeface="Manrope"/>
              <a:buChar char="●"/>
            </a:pPr>
            <a:r>
              <a:rPr lang="en-GB" sz="1700" dirty="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How this extends beyond the demo</a:t>
            </a:r>
            <a:endParaRPr sz="1700" dirty="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315C08-9408-7BC3-119D-2895110EBF7A}"/>
              </a:ext>
            </a:extLst>
          </p:cNvPr>
          <p:cNvSpPr txBox="1"/>
          <p:nvPr/>
        </p:nvSpPr>
        <p:spPr>
          <a:xfrm>
            <a:off x="137160" y="557784"/>
            <a:ext cx="10069333" cy="72019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1. Problem Brief</a:t>
            </a:r>
          </a:p>
          <a:p>
            <a:endParaRPr lang="en-US" dirty="0"/>
          </a:p>
          <a:p>
            <a:r>
              <a:rPr lang="en-US" dirty="0"/>
              <a:t>  What real business problem does this solve?</a:t>
            </a:r>
          </a:p>
          <a:p>
            <a:endParaRPr lang="en-US" dirty="0"/>
          </a:p>
          <a:p>
            <a:r>
              <a:rPr lang="en-US" dirty="0"/>
              <a:t>  Manufacturing lines generate millions of shots per week monitored by single-metric dashboards (cycle time</a:t>
            </a:r>
          </a:p>
          <a:p>
            <a:r>
              <a:rPr lang="en-US" dirty="0"/>
              <a:t>  alerts, stop count thresholds). But the most costly anomalies are multi-signal: a machine drifting 2% per week</a:t>
            </a:r>
          </a:p>
          <a:p>
            <a:r>
              <a:rPr lang="en-US" dirty="0"/>
              <a:t>  looks healthy on any single day, high repair time with normal fault frequency is invisible to stop-count</a:t>
            </a:r>
          </a:p>
          <a:p>
            <a:r>
              <a:rPr lang="en-US" dirty="0"/>
              <a:t>  alerts, and declining week-over-week stability -- the earliest warning -- has no threshold to trigger.</a:t>
            </a:r>
          </a:p>
          <a:p>
            <a:endParaRPr lang="en-US" dirty="0"/>
          </a:p>
          <a:p>
            <a:r>
              <a:rPr lang="en-US" dirty="0"/>
              <a:t>  These missed anomalies cause progressive quality loss, unplanned downtime, and scrap that accumulates silently</a:t>
            </a:r>
          </a:p>
          <a:p>
            <a:r>
              <a:rPr lang="en-US" dirty="0"/>
              <a:t>  until a critical failure forces a line stop.</a:t>
            </a:r>
          </a:p>
          <a:p>
            <a:endParaRPr lang="en-US" dirty="0"/>
          </a:p>
          <a:p>
            <a:r>
              <a:rPr lang="en-US" dirty="0"/>
              <a:t>  Who is the target user/persona?</a:t>
            </a:r>
          </a:p>
          <a:p>
            <a:endParaRPr lang="en-US" dirty="0"/>
          </a:p>
          <a:p>
            <a:r>
              <a:rPr lang="en-US" dirty="0"/>
              <a:t>  Production engineers and plant managers responsible for 10-50 injection </a:t>
            </a:r>
            <a:r>
              <a:rPr lang="en-US" dirty="0" err="1"/>
              <a:t>moulding</a:t>
            </a:r>
            <a:r>
              <a:rPr lang="en-US" dirty="0"/>
              <a:t> machines across multiple</a:t>
            </a:r>
          </a:p>
          <a:p>
            <a:r>
              <a:rPr lang="en-US" dirty="0"/>
              <a:t>  shifts. They lack time to cross-reference 4 separate metric views daily for every machine.</a:t>
            </a:r>
          </a:p>
          <a:p>
            <a:endParaRPr lang="en-US" dirty="0"/>
          </a:p>
          <a:p>
            <a:r>
              <a:rPr lang="en-US" dirty="0"/>
              <a:t>  What is the current pain point?</a:t>
            </a:r>
          </a:p>
          <a:p>
            <a:endParaRPr lang="en-US" dirty="0"/>
          </a:p>
          <a:p>
            <a:r>
              <a:rPr lang="en-US" dirty="0"/>
              <a:t>  Engineers manually correlate dashboards across CT deviation, run rate efficiency, MTBF/MTTR, and stability</a:t>
            </a:r>
          </a:p>
          <a:p>
            <a:r>
              <a:rPr lang="en-US" dirty="0"/>
              <a:t>  trends. This takes 30-60 minutes per machine and is done reactively after a failure -- not proactively across</a:t>
            </a:r>
          </a:p>
          <a:p>
            <a:r>
              <a:rPr lang="en-US" dirty="0"/>
              <a:t>  the fleet.</a:t>
            </a:r>
          </a:p>
          <a:p>
            <a:endParaRPr lang="en-US" dirty="0"/>
          </a:p>
          <a:p>
            <a:r>
              <a:rPr lang="en-US" dirty="0"/>
              <a:t>  How does this improve it?</a:t>
            </a:r>
          </a:p>
          <a:p>
            <a:endParaRPr lang="en-US" dirty="0"/>
          </a:p>
          <a:p>
            <a:r>
              <a:rPr lang="en-US" dirty="0"/>
              <a:t>  The agent runs </a:t>
            </a:r>
            <a:r>
              <a:rPr lang="en-US" dirty="0" err="1"/>
              <a:t>headlessly</a:t>
            </a:r>
            <a:r>
              <a:rPr lang="en-US" dirty="0"/>
              <a:t> on a trigger, sweeps the entire fleet in seconds, reasons across all four signal</a:t>
            </a:r>
          </a:p>
          <a:p>
            <a:r>
              <a:rPr lang="en-US" dirty="0"/>
              <a:t>  families simultaneously, autonomously investigates anomalies it finds, and records an auditable decision trail</a:t>
            </a:r>
          </a:p>
          <a:p>
            <a:r>
              <a:rPr lang="en-US" dirty="0"/>
              <a:t>  -- with zero human intervention.</a:t>
            </a:r>
          </a:p>
          <a:p>
            <a:endParaRPr lang="en-US" dirty="0"/>
          </a:p>
          <a:p>
            <a:r>
              <a:rPr lang="en-US" dirty="0"/>
              <a:t>  Industry/domain context:</a:t>
            </a:r>
          </a:p>
          <a:p>
            <a:endParaRPr lang="en-US" dirty="0"/>
          </a:p>
          <a:p>
            <a:r>
              <a:rPr lang="en-US" dirty="0"/>
              <a:t>  Injection </a:t>
            </a:r>
            <a:r>
              <a:rPr lang="en-US" dirty="0" err="1"/>
              <a:t>moulding</a:t>
            </a:r>
            <a:r>
              <a:rPr lang="en-US" dirty="0"/>
              <a:t> and die casting manufacturing. 8 machines, 243,000 shots over 6 weeks, synthetic but</a:t>
            </a:r>
          </a:p>
          <a:p>
            <a:r>
              <a:rPr lang="en-US" dirty="0"/>
              <a:t>  structurally identical to production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Framededed 14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TextBox 74"/>
          <p:cNvSpPr txBox="1"/>
          <p:nvPr/>
        </p:nvSpPr>
        <p:spPr>
          <a:xfrm>
            <a:off x="457200" y="274320"/>
            <a:ext cx="8229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1B1B"/>
                </a:solidFill>
              </a:defRPr>
            </a:pPr>
            <a:r>
              <a:t>2. Architecture Diagram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Autonomous Sense-Reason-Act Loop</a:t>
            </a:r>
          </a:p>
          <a:p>
            <a:pPr>
              <a:defRPr sz="1100">
                <a:solidFill>
                  <a:srgbClr val="333333"/>
                </a:solidFill>
              </a:defRPr>
            </a:pP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[TRIGGER] Schedule or manual command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     |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     v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[SENSE] CT Deviation + Stability Decline (fleet sweep)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     |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     v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[REASON] Snowflake Cortex LLM (Claude Sonnet)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- Cross-signal reasoning across detectors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- Decides which machines need investigation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- Selects follow-up tools dynamically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     |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     v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[ACT] Root Cause Analysis, Save Insights, Generate Reports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     |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     v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[RECORD] Decision Trail + Self-grade against ground truth</a:t>
            </a:r>
          </a:p>
          <a:p>
            <a:pPr>
              <a:defRPr sz="1100">
                <a:solidFill>
                  <a:srgbClr val="333333"/>
                </a:solidFill>
              </a:defRPr>
            </a:pP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CoCo CLI Skills: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$sense-equipment-anomalies - Fleet sweep (CT deviation + stability)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$investigate-shift-notes - Operator/maintenance context retrieval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$report-and-act - Decision recording and self-grading</a:t>
            </a:r>
          </a:p>
          <a:p>
            <a:pPr>
              <a:defRPr sz="1100">
                <a:solidFill>
                  <a:srgbClr val="333333"/>
                </a:solidFill>
              </a:defRPr>
            </a:pP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Data Source: MMS_DEMO.PUBLIC.DEMO_SHOTS (Snowflake) - 243K rows, 8 machines</a:t>
            </a:r>
          </a:p>
          <a:p>
            <a:pPr>
              <a:defRPr sz="1100">
                <a:solidFill>
                  <a:srgbClr val="333333"/>
                </a:solidFill>
              </a:defRPr>
            </a:pP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Snowflake Services: Cortex REST Messages API (Claude Sonnet, tools),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Snowflake Tables (DEMO_SHOTS, MOLD, SHIFT_NOTE, WORK_ORDER),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PAT Authentication, Synthetic data pipeline with planted defects.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deded 14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/>
          <p:nvPr/>
        </p:nvSpPr>
        <p:spPr>
          <a:xfrm>
            <a:off x="315900" y="4478850"/>
            <a:ext cx="85122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endParaRPr sz="600" i="1"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457200" y="274320"/>
            <a:ext cx="82296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1B1B"/>
                </a:solidFill>
              </a:defRPr>
            </a:pPr>
            <a:r>
              <a:t>3. Impact Statement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Measurable Outcomes: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- Fleet sweep: under 60 seconds vs 30-60 minutes manual per machine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- Catches anomalies that threshold monitors provably miss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- Demo: MX-7103 drifts 24% with no single-metric alert firing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- Zero false negatives on 4 planted defect types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- Self-grading: verifiable accuracy, not anecdotal claims</a:t>
            </a:r>
          </a:p>
          <a:p>
            <a:pPr>
              <a:defRPr sz="1100">
                <a:solidFill>
                  <a:srgbClr val="333333"/>
                </a:solidFill>
              </a:defRPr>
            </a:pP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Scalability Potential: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- Works on any fleet size (per-machine sweep, parallelizable)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- Detector modules are pluggable (add vibration, temperature, energy)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- Same architecture applies to: finance fraud, supply chain disruption,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  predictive maintenance -- any domain with multi-signal anomalies</a:t>
            </a:r>
          </a:p>
          <a:p>
            <a:pPr>
              <a:defRPr sz="1100">
                <a:solidFill>
                  <a:srgbClr val="333333"/>
                </a:solidFill>
              </a:defRPr>
            </a:pP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How This Extends Beyond the Demo: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- Snowflake Task trigger for hourly/daily autonomous runs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- Notification channels (email, Slack) for actionable alerts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- Cortex Analyst for natural-language querying of the decision trail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- Train on historical trails to improve domain reasoning over time</a:t>
            </a:r>
          </a:p>
          <a:p>
            <a:pPr>
              <a:defRPr sz="1100">
                <a:solidFill>
                  <a:srgbClr val="333333"/>
                </a:solidFill>
              </a:defRPr>
            </a:pP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End-to-End Demo (4 entry points):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1. Autonomous headless run: python scripts/run_agent.py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2. CoCo CLI interactive: $sense-equipment-anomalies / $investigate / $report-and-act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3. Streamlit UI: streamlit run demo/app.py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  4. Test suite: 716 tests passing (684 app + 40 generator)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Framededed 149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413</Words>
  <Application>Microsoft Macintosh PowerPoint</Application>
  <PresentationFormat>On-screen Show (16:9)</PresentationFormat>
  <Paragraphs>53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Manrope</vt:lpstr>
      <vt:lpstr>Manrope SemiBold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Utku Gulbardak</cp:lastModifiedBy>
  <cp:revision>2</cp:revision>
  <dcterms:modified xsi:type="dcterms:W3CDTF">2026-08-04T00:39:49Z</dcterms:modified>
</cp:coreProperties>
</file>